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5" r:id="rId4"/>
    <p:sldId id="257" r:id="rId5"/>
    <p:sldId id="270" r:id="rId6"/>
    <p:sldId id="263" r:id="rId7"/>
    <p:sldId id="266" r:id="rId8"/>
    <p:sldId id="269" r:id="rId9"/>
    <p:sldId id="264" r:id="rId10"/>
    <p:sldId id="261" r:id="rId11"/>
    <p:sldId id="260" r:id="rId12"/>
    <p:sldId id="262" r:id="rId13"/>
    <p:sldId id="267" r:id="rId14"/>
    <p:sldId id="25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491"/>
    <p:restoredTop sz="94659"/>
  </p:normalViewPr>
  <p:slideViewPr>
    <p:cSldViewPr snapToGrid="0">
      <p:cViewPr varScale="1">
        <p:scale>
          <a:sx n="110" d="100"/>
          <a:sy n="110" d="100"/>
        </p:scale>
        <p:origin x="1648" y="18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78A68-EA69-2F82-6D10-232F2CACE36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7EF9CAB-2593-343B-1B0C-BD0E9F36D9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AA8E303-B075-02CD-AB78-40DCD6F9BBEA}"/>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5" name="Footer Placeholder 4">
            <a:extLst>
              <a:ext uri="{FF2B5EF4-FFF2-40B4-BE49-F238E27FC236}">
                <a16:creationId xmlns:a16="http://schemas.microsoft.com/office/drawing/2014/main" id="{AAB92E9A-1523-CDAC-467A-E9C10398D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C12C8A-885E-E28B-346F-D29971E48FFE}"/>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2621469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5C3C6-D5B7-BCCC-1C39-1D0B8236EE0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9798DE6-2DB4-4E95-061D-A6EF89A2BF5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C0CD98D-36E8-018F-0EDE-D427A1292E80}"/>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5" name="Footer Placeholder 4">
            <a:extLst>
              <a:ext uri="{FF2B5EF4-FFF2-40B4-BE49-F238E27FC236}">
                <a16:creationId xmlns:a16="http://schemas.microsoft.com/office/drawing/2014/main" id="{1E275E49-6A78-6DC1-87CE-AB400E842B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4C244-EC7A-94C4-BF74-35E65F2E5EC0}"/>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4209326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1C02-C461-499B-7D96-71FF5F7E87E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D14FDFC-D861-063A-7F07-AE88E5564A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7587621-C05F-CF2E-7D6D-EE79BB9D7E96}"/>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5" name="Footer Placeholder 4">
            <a:extLst>
              <a:ext uri="{FF2B5EF4-FFF2-40B4-BE49-F238E27FC236}">
                <a16:creationId xmlns:a16="http://schemas.microsoft.com/office/drawing/2014/main" id="{5BD80B2A-D32F-0977-8782-742533614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88BB82-6EFC-9B05-41FE-2CDCEADC1EFB}"/>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1790366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F4684-0D53-F152-2BC8-37D9ABE5D04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B1B4668-D641-CBF4-290A-6B30B717D29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D14DB2F-5682-35FB-2881-FD50F4858A7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0A839FD-02ED-FDE6-C368-29E4A2EAE345}"/>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6" name="Footer Placeholder 5">
            <a:extLst>
              <a:ext uri="{FF2B5EF4-FFF2-40B4-BE49-F238E27FC236}">
                <a16:creationId xmlns:a16="http://schemas.microsoft.com/office/drawing/2014/main" id="{BA3A37F0-610F-D68C-6743-D7EF7E1BEA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01F72-5315-E52F-CC3A-063A929E75B5}"/>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3889878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A4784-EE8D-B888-BF64-F0F4F04988E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38A4C52-727F-D7E7-5E01-BA6562AB9E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73D2964-3144-965E-EE1B-AE3DAA46DD2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E9782DE-0EF3-69C9-8A28-6EC4EDC37E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B3D61C6-0E0A-9BD3-190A-DF9AEBD3365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3AEE8CE-DF0D-F93E-FDAF-BF69D79C2C73}"/>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8" name="Footer Placeholder 7">
            <a:extLst>
              <a:ext uri="{FF2B5EF4-FFF2-40B4-BE49-F238E27FC236}">
                <a16:creationId xmlns:a16="http://schemas.microsoft.com/office/drawing/2014/main" id="{11A6AB8B-F629-9230-1531-6E331B566B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DC843B-3AE0-F2A8-8126-09D944BF327E}"/>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52627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C759B-529C-8A83-47B4-DB41A7B49B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2790015-14C0-20F7-9AD6-F5CC2A6AC2FB}"/>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4" name="Footer Placeholder 3">
            <a:extLst>
              <a:ext uri="{FF2B5EF4-FFF2-40B4-BE49-F238E27FC236}">
                <a16:creationId xmlns:a16="http://schemas.microsoft.com/office/drawing/2014/main" id="{58175880-E513-228E-D110-51B3201D0D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2BA477-E6E9-5CD1-BD55-F1692BF0E744}"/>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490198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C2AA6D-911E-8D86-78A3-6D35189DF89E}"/>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3" name="Footer Placeholder 2">
            <a:extLst>
              <a:ext uri="{FF2B5EF4-FFF2-40B4-BE49-F238E27FC236}">
                <a16:creationId xmlns:a16="http://schemas.microsoft.com/office/drawing/2014/main" id="{56745B8F-CC7B-9CAF-66C1-58134B6097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F612E5-C3E0-98D2-99B5-96B06ADC39C3}"/>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2592434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4F1FE-A62A-0963-9F02-CB789EE9F7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DB86BB9-C0B3-4E71-72D8-CF0D7835E2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B58EAA5-8BC5-FB9D-CBEC-E9CEB7720C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C3B7C98-C377-55E4-BDE8-158D9C9FE660}"/>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6" name="Footer Placeholder 5">
            <a:extLst>
              <a:ext uri="{FF2B5EF4-FFF2-40B4-BE49-F238E27FC236}">
                <a16:creationId xmlns:a16="http://schemas.microsoft.com/office/drawing/2014/main" id="{1608B8EB-1DC6-38BB-4E31-DF47C33551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AEEB7B-4FF0-8670-32B0-5031DBA1DD2F}"/>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236788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DE3A-3C7E-05FF-8C44-D14F84F885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8DD6A97-01F2-C241-E91D-635082F81F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1787DF-CA63-1EB0-2F47-0C80DDBB2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880E914-4507-A638-C37D-011A59B1E683}"/>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6" name="Footer Placeholder 5">
            <a:extLst>
              <a:ext uri="{FF2B5EF4-FFF2-40B4-BE49-F238E27FC236}">
                <a16:creationId xmlns:a16="http://schemas.microsoft.com/office/drawing/2014/main" id="{9B3933D5-D9E1-8002-408F-DD0A27481C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DA64FB-3341-A57B-BE3C-0D30C26BB51A}"/>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180719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AC900-895C-41F4-714C-325DD50AC97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75C564B-E34E-92F1-1D87-A78653AE00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06E67F-C129-FB0F-8D8D-BB927824B947}"/>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5" name="Footer Placeholder 4">
            <a:extLst>
              <a:ext uri="{FF2B5EF4-FFF2-40B4-BE49-F238E27FC236}">
                <a16:creationId xmlns:a16="http://schemas.microsoft.com/office/drawing/2014/main" id="{29C3D4B3-387A-FD83-80A3-DA8996B9A3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42DFF-5557-BAC4-254E-5A68E39E5D12}"/>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3069442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C1459D-08D0-6B23-643F-CBF60806762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64F8883-A994-3277-C905-A307F32C658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5758913-1150-A05C-4B44-12542FA69EA3}"/>
              </a:ext>
            </a:extLst>
          </p:cNvPr>
          <p:cNvSpPr>
            <a:spLocks noGrp="1"/>
          </p:cNvSpPr>
          <p:nvPr>
            <p:ph type="dt" sz="half" idx="10"/>
          </p:nvPr>
        </p:nvSpPr>
        <p:spPr/>
        <p:txBody>
          <a:bodyPr/>
          <a:lstStyle/>
          <a:p>
            <a:fld id="{BE1EA491-6899-3446-B7FA-6FAA6BA9C8A6}" type="datetimeFigureOut">
              <a:rPr lang="en-US" smtClean="0"/>
              <a:t>3/15/26</a:t>
            </a:fld>
            <a:endParaRPr lang="en-US"/>
          </a:p>
        </p:txBody>
      </p:sp>
      <p:sp>
        <p:nvSpPr>
          <p:cNvPr id="5" name="Footer Placeholder 4">
            <a:extLst>
              <a:ext uri="{FF2B5EF4-FFF2-40B4-BE49-F238E27FC236}">
                <a16:creationId xmlns:a16="http://schemas.microsoft.com/office/drawing/2014/main" id="{4A3504DC-2B5D-F18A-2539-86E94CB4A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8E946E-0EFF-8C7B-D66C-EF06F643F984}"/>
              </a:ext>
            </a:extLst>
          </p:cNvPr>
          <p:cNvSpPr>
            <a:spLocks noGrp="1"/>
          </p:cNvSpPr>
          <p:nvPr>
            <p:ph type="sldNum" sz="quarter" idx="12"/>
          </p:nvPr>
        </p:nvSpPr>
        <p:spPr/>
        <p:txBody>
          <a:bodyPr/>
          <a:lstStyle/>
          <a:p>
            <a:fld id="{63177ECE-82BD-A446-AB20-29A855BC6AC2}" type="slidenum">
              <a:rPr lang="en-US" smtClean="0"/>
              <a:t>‹#›</a:t>
            </a:fld>
            <a:endParaRPr lang="en-US"/>
          </a:p>
        </p:txBody>
      </p:sp>
    </p:spTree>
    <p:extLst>
      <p:ext uri="{BB962C8B-B14F-4D97-AF65-F5344CB8AC3E}">
        <p14:creationId xmlns:p14="http://schemas.microsoft.com/office/powerpoint/2010/main" val="3550760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29C8EF-6DF0-7FB2-6BFD-CF9E91B8BD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E4A3754-7DDA-9D72-E5EA-934ABE7345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A85FC6-53C3-4064-05A5-8FBF50DE54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1EA491-6899-3446-B7FA-6FAA6BA9C8A6}" type="datetimeFigureOut">
              <a:rPr lang="en-US" smtClean="0"/>
              <a:t>3/15/26</a:t>
            </a:fld>
            <a:endParaRPr lang="en-US"/>
          </a:p>
        </p:txBody>
      </p:sp>
      <p:sp>
        <p:nvSpPr>
          <p:cNvPr id="5" name="Footer Placeholder 4">
            <a:extLst>
              <a:ext uri="{FF2B5EF4-FFF2-40B4-BE49-F238E27FC236}">
                <a16:creationId xmlns:a16="http://schemas.microsoft.com/office/drawing/2014/main" id="{02349485-FA59-6895-B638-38A6ED169B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C7CC8E1-A589-14BF-13C0-7E2CC9E2D1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177ECE-82BD-A446-AB20-29A855BC6AC2}" type="slidenum">
              <a:rPr lang="en-US" smtClean="0"/>
              <a:t>‹#›</a:t>
            </a:fld>
            <a:endParaRPr lang="en-US"/>
          </a:p>
        </p:txBody>
      </p:sp>
    </p:spTree>
    <p:extLst>
      <p:ext uri="{BB962C8B-B14F-4D97-AF65-F5344CB8AC3E}">
        <p14:creationId xmlns:p14="http://schemas.microsoft.com/office/powerpoint/2010/main" val="1295739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A0F5-6EFE-C2D8-C52B-F2B959C6117B}"/>
              </a:ext>
            </a:extLst>
          </p:cNvPr>
          <p:cNvSpPr>
            <a:spLocks noGrp="1"/>
          </p:cNvSpPr>
          <p:nvPr>
            <p:ph type="ctrTitle"/>
          </p:nvPr>
        </p:nvSpPr>
        <p:spPr/>
        <p:txBody>
          <a:bodyPr/>
          <a:lstStyle/>
          <a:p>
            <a:r>
              <a:rPr lang="en-US" dirty="0"/>
              <a:t>Scam Dataset - GASP</a:t>
            </a:r>
          </a:p>
        </p:txBody>
      </p:sp>
      <p:sp>
        <p:nvSpPr>
          <p:cNvPr id="3" name="Subtitle 2">
            <a:extLst>
              <a:ext uri="{FF2B5EF4-FFF2-40B4-BE49-F238E27FC236}">
                <a16:creationId xmlns:a16="http://schemas.microsoft.com/office/drawing/2014/main" id="{6AE2A9C1-42E2-5050-1CFE-9C35430A0C36}"/>
              </a:ext>
            </a:extLst>
          </p:cNvPr>
          <p:cNvSpPr>
            <a:spLocks noGrp="1"/>
          </p:cNvSpPr>
          <p:nvPr>
            <p:ph type="subTitle" idx="1"/>
          </p:nvPr>
        </p:nvSpPr>
        <p:spPr/>
        <p:txBody>
          <a:bodyPr/>
          <a:lstStyle/>
          <a:p>
            <a:r>
              <a:rPr lang="en-US" dirty="0"/>
              <a:t>Shawn Ng</a:t>
            </a:r>
          </a:p>
          <a:p>
            <a:r>
              <a:rPr lang="en-US" dirty="0"/>
              <a:t>80s.h.a.w.n08@gmail.com</a:t>
            </a:r>
          </a:p>
        </p:txBody>
      </p:sp>
    </p:spTree>
    <p:extLst>
      <p:ext uri="{BB962C8B-B14F-4D97-AF65-F5344CB8AC3E}">
        <p14:creationId xmlns:p14="http://schemas.microsoft.com/office/powerpoint/2010/main" val="589964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EED94-5803-DF08-0B04-8CA3AEB81BA5}"/>
              </a:ext>
            </a:extLst>
          </p:cNvPr>
          <p:cNvSpPr>
            <a:spLocks noGrp="1"/>
          </p:cNvSpPr>
          <p:nvPr>
            <p:ph type="title"/>
          </p:nvPr>
        </p:nvSpPr>
        <p:spPr/>
        <p:txBody>
          <a:bodyPr/>
          <a:lstStyle/>
          <a:p>
            <a:r>
              <a:rPr lang="en-US" dirty="0"/>
              <a:t>Scam Dataset</a:t>
            </a:r>
          </a:p>
        </p:txBody>
      </p:sp>
      <p:sp>
        <p:nvSpPr>
          <p:cNvPr id="3" name="Content Placeholder 2">
            <a:extLst>
              <a:ext uri="{FF2B5EF4-FFF2-40B4-BE49-F238E27FC236}">
                <a16:creationId xmlns:a16="http://schemas.microsoft.com/office/drawing/2014/main" id="{92F2B470-21DE-A454-042A-5B79931DF39B}"/>
              </a:ext>
            </a:extLst>
          </p:cNvPr>
          <p:cNvSpPr>
            <a:spLocks noGrp="1"/>
          </p:cNvSpPr>
          <p:nvPr>
            <p:ph idx="1"/>
          </p:nvPr>
        </p:nvSpPr>
        <p:spPr/>
        <p:txBody>
          <a:bodyPr>
            <a:normAutofit/>
          </a:bodyPr>
          <a:lstStyle/>
          <a:p>
            <a:r>
              <a:rPr lang="en-US" dirty="0"/>
              <a:t>Consists of 17014 Normal Ads, 866 Fraudulent Ads</a:t>
            </a:r>
          </a:p>
          <a:p>
            <a:r>
              <a:rPr lang="en-US" dirty="0"/>
              <a:t>This is a classification problem, we want to train a model to classify an email as “Fraudulent” or “Normal” quickly.</a:t>
            </a:r>
          </a:p>
          <a:p>
            <a:r>
              <a:rPr lang="en-US" dirty="0"/>
              <a:t>For this we can consider training ML models which work well for classification:</a:t>
            </a:r>
          </a:p>
          <a:p>
            <a:pPr lvl="1"/>
            <a:r>
              <a:rPr lang="en-US" dirty="0"/>
              <a:t>Decision Trees</a:t>
            </a:r>
          </a:p>
          <a:p>
            <a:pPr lvl="1"/>
            <a:r>
              <a:rPr lang="en-US" dirty="0"/>
              <a:t>SVM</a:t>
            </a:r>
          </a:p>
          <a:p>
            <a:pPr lvl="1"/>
            <a:r>
              <a:rPr lang="en-US" dirty="0" err="1"/>
              <a:t>XGBoost</a:t>
            </a:r>
            <a:endParaRPr lang="en-US" dirty="0"/>
          </a:p>
          <a:p>
            <a:pPr lvl="1"/>
            <a:r>
              <a:rPr lang="en-US" dirty="0"/>
              <a:t>Neural Networks like </a:t>
            </a:r>
            <a:r>
              <a:rPr lang="en-US" dirty="0" err="1"/>
              <a:t>Tabnet</a:t>
            </a:r>
            <a:endParaRPr lang="en-US" dirty="0"/>
          </a:p>
        </p:txBody>
      </p:sp>
    </p:spTree>
    <p:extLst>
      <p:ext uri="{BB962C8B-B14F-4D97-AF65-F5344CB8AC3E}">
        <p14:creationId xmlns:p14="http://schemas.microsoft.com/office/powerpoint/2010/main" val="78118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C775-43EF-9ADE-05E2-C4936EF277E4}"/>
              </a:ext>
            </a:extLst>
          </p:cNvPr>
          <p:cNvSpPr>
            <a:spLocks noGrp="1"/>
          </p:cNvSpPr>
          <p:nvPr>
            <p:ph type="title"/>
          </p:nvPr>
        </p:nvSpPr>
        <p:spPr/>
        <p:txBody>
          <a:bodyPr/>
          <a:lstStyle/>
          <a:p>
            <a:r>
              <a:rPr lang="en-US" dirty="0"/>
              <a:t>Features</a:t>
            </a:r>
          </a:p>
        </p:txBody>
      </p:sp>
      <p:sp>
        <p:nvSpPr>
          <p:cNvPr id="3" name="Content Placeholder 2">
            <a:extLst>
              <a:ext uri="{FF2B5EF4-FFF2-40B4-BE49-F238E27FC236}">
                <a16:creationId xmlns:a16="http://schemas.microsoft.com/office/drawing/2014/main" id="{1565CFFE-A3B9-ACBF-498D-8561817343FF}"/>
              </a:ext>
            </a:extLst>
          </p:cNvPr>
          <p:cNvSpPr>
            <a:spLocks noGrp="1"/>
          </p:cNvSpPr>
          <p:nvPr>
            <p:ph idx="1"/>
          </p:nvPr>
        </p:nvSpPr>
        <p:spPr/>
        <p:txBody>
          <a:bodyPr/>
          <a:lstStyle/>
          <a:p>
            <a:r>
              <a:rPr lang="en-US" dirty="0"/>
              <a:t>There are 18 features, including information on things like job description information, information on the company, and benefits.</a:t>
            </a:r>
          </a:p>
          <a:p>
            <a:r>
              <a:rPr lang="en-US" dirty="0"/>
              <a:t>Some features might not be impactful, while some might be huge tells, we have to pick the best features so our model doesn’t use multiple highly correlated features.</a:t>
            </a:r>
          </a:p>
          <a:p>
            <a:r>
              <a:rPr lang="en-US" dirty="0"/>
              <a:t>Hence we go through feature selection first – to preprocess our data for models that don’t handle this step well, and ensure no data leakages.</a:t>
            </a:r>
          </a:p>
        </p:txBody>
      </p:sp>
    </p:spTree>
    <p:extLst>
      <p:ext uri="{BB962C8B-B14F-4D97-AF65-F5344CB8AC3E}">
        <p14:creationId xmlns:p14="http://schemas.microsoft.com/office/powerpoint/2010/main" val="2241006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C7218-30B3-675A-2827-2374D14302D7}"/>
              </a:ext>
            </a:extLst>
          </p:cNvPr>
          <p:cNvSpPr>
            <a:spLocks noGrp="1"/>
          </p:cNvSpPr>
          <p:nvPr>
            <p:ph type="title"/>
          </p:nvPr>
        </p:nvSpPr>
        <p:spPr/>
        <p:txBody>
          <a:bodyPr/>
          <a:lstStyle/>
          <a:p>
            <a:r>
              <a:rPr lang="en-US" dirty="0"/>
              <a:t>Dataset Preprocessing and Limitations</a:t>
            </a:r>
          </a:p>
        </p:txBody>
      </p:sp>
      <p:sp>
        <p:nvSpPr>
          <p:cNvPr id="3" name="Content Placeholder 2">
            <a:extLst>
              <a:ext uri="{FF2B5EF4-FFF2-40B4-BE49-F238E27FC236}">
                <a16:creationId xmlns:a16="http://schemas.microsoft.com/office/drawing/2014/main" id="{97AAFF66-249E-D548-EB67-CBAE1C101876}"/>
              </a:ext>
            </a:extLst>
          </p:cNvPr>
          <p:cNvSpPr>
            <a:spLocks noGrp="1"/>
          </p:cNvSpPr>
          <p:nvPr>
            <p:ph idx="1"/>
          </p:nvPr>
        </p:nvSpPr>
        <p:spPr/>
        <p:txBody>
          <a:bodyPr>
            <a:normAutofit/>
          </a:bodyPr>
          <a:lstStyle/>
          <a:p>
            <a:r>
              <a:rPr lang="en-US" dirty="0"/>
              <a:t>Fraudulent ads only represent 4.84% (866/17880) of the dataset, there is a huge class imbalance, so we need to choose a technique to account for the imbalance for each model</a:t>
            </a:r>
          </a:p>
          <a:p>
            <a:r>
              <a:rPr lang="en-US" dirty="0"/>
              <a:t>There are many duplicates in descriptions, 2785 rows of duplicates, which might result in model overfitting to duplicates</a:t>
            </a:r>
          </a:p>
          <a:p>
            <a:pPr lvl="1"/>
            <a:r>
              <a:rPr lang="en-US" dirty="0"/>
              <a:t>We simply drop duplicate rows.</a:t>
            </a:r>
          </a:p>
          <a:p>
            <a:endParaRPr lang="en-US" dirty="0"/>
          </a:p>
        </p:txBody>
      </p:sp>
    </p:spTree>
    <p:extLst>
      <p:ext uri="{BB962C8B-B14F-4D97-AF65-F5344CB8AC3E}">
        <p14:creationId xmlns:p14="http://schemas.microsoft.com/office/powerpoint/2010/main" val="2950830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CC987-4128-CFD7-F97C-0A9E881B0DAC}"/>
              </a:ext>
            </a:extLst>
          </p:cNvPr>
          <p:cNvSpPr>
            <a:spLocks noGrp="1"/>
          </p:cNvSpPr>
          <p:nvPr>
            <p:ph type="title"/>
          </p:nvPr>
        </p:nvSpPr>
        <p:spPr/>
        <p:txBody>
          <a:bodyPr/>
          <a:lstStyle/>
          <a:p>
            <a:r>
              <a:rPr lang="en-US" dirty="0"/>
              <a:t>Dataset Preprocessing and Limitations</a:t>
            </a:r>
          </a:p>
        </p:txBody>
      </p:sp>
      <p:sp>
        <p:nvSpPr>
          <p:cNvPr id="3" name="Content Placeholder 2">
            <a:extLst>
              <a:ext uri="{FF2B5EF4-FFF2-40B4-BE49-F238E27FC236}">
                <a16:creationId xmlns:a16="http://schemas.microsoft.com/office/drawing/2014/main" id="{5882FBF4-54EC-94D5-2B11-3687C1843C46}"/>
              </a:ext>
            </a:extLst>
          </p:cNvPr>
          <p:cNvSpPr>
            <a:spLocks noGrp="1"/>
          </p:cNvSpPr>
          <p:nvPr>
            <p:ph idx="1"/>
          </p:nvPr>
        </p:nvSpPr>
        <p:spPr/>
        <p:txBody>
          <a:bodyPr/>
          <a:lstStyle/>
          <a:p>
            <a:r>
              <a:rPr lang="en-US" dirty="0"/>
              <a:t>We need to code our features into proper classifications so our models can use it for predictions</a:t>
            </a:r>
          </a:p>
          <a:p>
            <a:r>
              <a:rPr lang="en-US" dirty="0"/>
              <a:t>The final column (</a:t>
            </a:r>
            <a:r>
              <a:rPr lang="en-US" dirty="0" err="1"/>
              <a:t>in_balanced_dataset</a:t>
            </a:r>
            <a:r>
              <a:rPr lang="en-US" dirty="0"/>
              <a:t>) has to be removed because it has a 1:1 ratio of fraud to non-fraud ads - which is a non generalizable feature</a:t>
            </a:r>
          </a:p>
          <a:p>
            <a:r>
              <a:rPr lang="en-US" dirty="0"/>
              <a:t>We also don’t drop missing values in fraud detection, we simply label them as they might be tells.</a:t>
            </a:r>
          </a:p>
        </p:txBody>
      </p:sp>
    </p:spTree>
    <p:extLst>
      <p:ext uri="{BB962C8B-B14F-4D97-AF65-F5344CB8AC3E}">
        <p14:creationId xmlns:p14="http://schemas.microsoft.com/office/powerpoint/2010/main" val="968906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1EA5-B5EE-2DF8-C08C-5D50D1F10F28}"/>
              </a:ext>
            </a:extLst>
          </p:cNvPr>
          <p:cNvSpPr>
            <a:spLocks noGrp="1"/>
          </p:cNvSpPr>
          <p:nvPr>
            <p:ph type="title"/>
          </p:nvPr>
        </p:nvSpPr>
        <p:spPr/>
        <p:txBody>
          <a:bodyPr/>
          <a:lstStyle/>
          <a:p>
            <a:r>
              <a:rPr lang="en-US" dirty="0"/>
              <a:t>Most suspicious features</a:t>
            </a:r>
          </a:p>
        </p:txBody>
      </p:sp>
      <p:sp>
        <p:nvSpPr>
          <p:cNvPr id="3" name="Content Placeholder 2">
            <a:extLst>
              <a:ext uri="{FF2B5EF4-FFF2-40B4-BE49-F238E27FC236}">
                <a16:creationId xmlns:a16="http://schemas.microsoft.com/office/drawing/2014/main" id="{00EA7F30-0FDE-0A83-B5C4-D5B10C674198}"/>
              </a:ext>
            </a:extLst>
          </p:cNvPr>
          <p:cNvSpPr>
            <a:spLocks noGrp="1"/>
          </p:cNvSpPr>
          <p:nvPr>
            <p:ph idx="1"/>
          </p:nvPr>
        </p:nvSpPr>
        <p:spPr>
          <a:xfrm>
            <a:off x="7983070" y="1825625"/>
            <a:ext cx="3370730" cy="3553199"/>
          </a:xfrm>
        </p:spPr>
        <p:txBody>
          <a:bodyPr>
            <a:normAutofit/>
          </a:bodyPr>
          <a:lstStyle/>
          <a:p>
            <a:pPr marL="0" indent="0">
              <a:buNone/>
            </a:pPr>
            <a:endParaRPr lang="en-US" dirty="0"/>
          </a:p>
          <a:p>
            <a:pPr marL="0" indent="0">
              <a:buNone/>
            </a:pPr>
            <a:r>
              <a:rPr lang="en-US" dirty="0"/>
              <a:t>When both company logo and profile is absent, there is a high probability of fraud.</a:t>
            </a:r>
          </a:p>
          <a:p>
            <a:pPr marL="0" indent="0">
              <a:buNone/>
            </a:pPr>
            <a:endParaRPr lang="en-US" dirty="0"/>
          </a:p>
          <a:p>
            <a:pPr marL="0" indent="0">
              <a:buNone/>
            </a:pPr>
            <a:r>
              <a:rPr lang="en-US" dirty="0"/>
              <a:t>(18.3% vs 1.9%)</a:t>
            </a:r>
          </a:p>
        </p:txBody>
      </p:sp>
      <p:pic>
        <p:nvPicPr>
          <p:cNvPr id="5" name="Picture 4">
            <a:extLst>
              <a:ext uri="{FF2B5EF4-FFF2-40B4-BE49-F238E27FC236}">
                <a16:creationId xmlns:a16="http://schemas.microsoft.com/office/drawing/2014/main" id="{47D6F5D0-51D6-56DB-09CC-2CD6B805334B}"/>
              </a:ext>
            </a:extLst>
          </p:cNvPr>
          <p:cNvPicPr>
            <a:picLocks noChangeAspect="1"/>
          </p:cNvPicPr>
          <p:nvPr/>
        </p:nvPicPr>
        <p:blipFill>
          <a:blip r:embed="rId2"/>
          <a:stretch>
            <a:fillRect/>
          </a:stretch>
        </p:blipFill>
        <p:spPr>
          <a:xfrm>
            <a:off x="667870" y="1566218"/>
            <a:ext cx="7061666" cy="4189123"/>
          </a:xfrm>
          <a:prstGeom prst="rect">
            <a:avLst/>
          </a:prstGeom>
        </p:spPr>
      </p:pic>
    </p:spTree>
    <p:extLst>
      <p:ext uri="{BB962C8B-B14F-4D97-AF65-F5344CB8AC3E}">
        <p14:creationId xmlns:p14="http://schemas.microsoft.com/office/powerpoint/2010/main" val="2691110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02BE3-AC7F-CB2F-D60C-39831933D998}"/>
              </a:ext>
            </a:extLst>
          </p:cNvPr>
          <p:cNvSpPr>
            <a:spLocks noGrp="1"/>
          </p:cNvSpPr>
          <p:nvPr>
            <p:ph type="title"/>
          </p:nvPr>
        </p:nvSpPr>
        <p:spPr/>
        <p:txBody>
          <a:bodyPr/>
          <a:lstStyle/>
          <a:p>
            <a:r>
              <a:rPr lang="en-US" dirty="0"/>
              <a:t>Type of Employment</a:t>
            </a:r>
          </a:p>
        </p:txBody>
      </p:sp>
      <p:sp>
        <p:nvSpPr>
          <p:cNvPr id="3" name="Content Placeholder 2">
            <a:extLst>
              <a:ext uri="{FF2B5EF4-FFF2-40B4-BE49-F238E27FC236}">
                <a16:creationId xmlns:a16="http://schemas.microsoft.com/office/drawing/2014/main" id="{FE185914-2B99-739C-7781-A1DA186A9CB3}"/>
              </a:ext>
            </a:extLst>
          </p:cNvPr>
          <p:cNvSpPr>
            <a:spLocks noGrp="1"/>
          </p:cNvSpPr>
          <p:nvPr>
            <p:ph idx="1"/>
          </p:nvPr>
        </p:nvSpPr>
        <p:spPr/>
        <p:txBody>
          <a:bodyPr/>
          <a:lstStyle/>
          <a:p>
            <a:r>
              <a:rPr lang="en-US" dirty="0"/>
              <a:t>Interestingly, part time jobs, and executive / entry level job ads are more likely to be scams. This might be to lure a larger base of people.</a:t>
            </a:r>
          </a:p>
        </p:txBody>
      </p:sp>
      <p:pic>
        <p:nvPicPr>
          <p:cNvPr id="4" name="Picture 3">
            <a:extLst>
              <a:ext uri="{FF2B5EF4-FFF2-40B4-BE49-F238E27FC236}">
                <a16:creationId xmlns:a16="http://schemas.microsoft.com/office/drawing/2014/main" id="{81610DBD-9104-4D65-62AE-07B1EA9446B5}"/>
              </a:ext>
            </a:extLst>
          </p:cNvPr>
          <p:cNvPicPr>
            <a:picLocks noChangeAspect="1"/>
          </p:cNvPicPr>
          <p:nvPr/>
        </p:nvPicPr>
        <p:blipFill>
          <a:blip r:embed="rId2"/>
          <a:stretch>
            <a:fillRect/>
          </a:stretch>
        </p:blipFill>
        <p:spPr>
          <a:xfrm>
            <a:off x="838200" y="3120627"/>
            <a:ext cx="5437094" cy="3229957"/>
          </a:xfrm>
          <a:prstGeom prst="rect">
            <a:avLst/>
          </a:prstGeom>
        </p:spPr>
      </p:pic>
      <p:pic>
        <p:nvPicPr>
          <p:cNvPr id="5" name="Picture 4">
            <a:extLst>
              <a:ext uri="{FF2B5EF4-FFF2-40B4-BE49-F238E27FC236}">
                <a16:creationId xmlns:a16="http://schemas.microsoft.com/office/drawing/2014/main" id="{54989F99-3E70-20B7-7986-60C66054735D}"/>
              </a:ext>
            </a:extLst>
          </p:cNvPr>
          <p:cNvPicPr>
            <a:picLocks noChangeAspect="1"/>
          </p:cNvPicPr>
          <p:nvPr/>
        </p:nvPicPr>
        <p:blipFill>
          <a:blip r:embed="rId3"/>
          <a:stretch>
            <a:fillRect/>
          </a:stretch>
        </p:blipFill>
        <p:spPr>
          <a:xfrm>
            <a:off x="6495213" y="3120627"/>
            <a:ext cx="5437094" cy="3229957"/>
          </a:xfrm>
          <a:prstGeom prst="rect">
            <a:avLst/>
          </a:prstGeom>
        </p:spPr>
      </p:pic>
    </p:spTree>
    <p:extLst>
      <p:ext uri="{BB962C8B-B14F-4D97-AF65-F5344CB8AC3E}">
        <p14:creationId xmlns:p14="http://schemas.microsoft.com/office/powerpoint/2010/main" val="1457062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214A5-C07F-B74F-1D63-6CFF1628681F}"/>
              </a:ext>
            </a:extLst>
          </p:cNvPr>
          <p:cNvSpPr>
            <a:spLocks noGrp="1"/>
          </p:cNvSpPr>
          <p:nvPr>
            <p:ph type="title"/>
          </p:nvPr>
        </p:nvSpPr>
        <p:spPr/>
        <p:txBody>
          <a:bodyPr/>
          <a:lstStyle/>
          <a:p>
            <a:r>
              <a:rPr lang="en-US" dirty="0"/>
              <a:t>Descriptions</a:t>
            </a:r>
          </a:p>
        </p:txBody>
      </p:sp>
      <p:sp>
        <p:nvSpPr>
          <p:cNvPr id="3" name="Content Placeholder 2">
            <a:extLst>
              <a:ext uri="{FF2B5EF4-FFF2-40B4-BE49-F238E27FC236}">
                <a16:creationId xmlns:a16="http://schemas.microsoft.com/office/drawing/2014/main" id="{A80C31A3-1A9C-683A-166A-F3EE2A734BB5}"/>
              </a:ext>
            </a:extLst>
          </p:cNvPr>
          <p:cNvSpPr>
            <a:spLocks noGrp="1"/>
          </p:cNvSpPr>
          <p:nvPr>
            <p:ph idx="1"/>
          </p:nvPr>
        </p:nvSpPr>
        <p:spPr/>
        <p:txBody>
          <a:bodyPr>
            <a:normAutofit/>
          </a:bodyPr>
          <a:lstStyle/>
          <a:p>
            <a:r>
              <a:rPr lang="en-SG" sz="2400" dirty="0"/>
              <a:t>Personally reading through the descriptions, we find many real ads like this.</a:t>
            </a:r>
          </a:p>
          <a:p>
            <a:pPr lvl="1"/>
            <a:r>
              <a:rPr lang="en-SG" sz="2000" dirty="0"/>
              <a:t>Our name is not in this ad to prevent us from showing up in Google indexing under our company name, which would then let our existing and potential clients know how much commission we all make. What a disaster that would be. Wouldn't you agree? But once we give you our name and you check us out you will see that we are the real deal.</a:t>
            </a:r>
            <a:endParaRPr lang="en-US" sz="2000" dirty="0"/>
          </a:p>
          <a:p>
            <a:pPr lvl="1"/>
            <a:r>
              <a:rPr lang="en-SG" sz="2000" dirty="0"/>
              <a:t>&lt;p&gt;We help teachers get safe &amp;amp; secure jobs abroad </a:t>
            </a:r>
            <a:r>
              <a:rPr lang="en-SG" sz="2000" dirty="0">
                <a:highlight>
                  <a:srgbClr val="FFFF00"/>
                </a:highlight>
              </a:rPr>
              <a:t>:)</a:t>
            </a:r>
            <a:r>
              <a:rPr lang="en-SG" sz="2000" dirty="0"/>
              <a:t>&lt;/p&gt;</a:t>
            </a:r>
            <a:endParaRPr lang="en-SG" dirty="0"/>
          </a:p>
          <a:p>
            <a:r>
              <a:rPr lang="en-SG" dirty="0"/>
              <a:t>Many such cases of informal but real ads exist, but more professional ads actually might have a higher chance of being fake – because scammers are trying to act professionally.</a:t>
            </a:r>
          </a:p>
          <a:p>
            <a:r>
              <a:rPr lang="en-SG" dirty="0"/>
              <a:t>We could check using sentiment analysis if we could use a “professionalism” score as a feature for our model.</a:t>
            </a:r>
          </a:p>
        </p:txBody>
      </p:sp>
    </p:spTree>
    <p:extLst>
      <p:ext uri="{BB962C8B-B14F-4D97-AF65-F5344CB8AC3E}">
        <p14:creationId xmlns:p14="http://schemas.microsoft.com/office/powerpoint/2010/main" val="456223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C427D-C02E-4D2E-BF97-47F549E348BB}"/>
              </a:ext>
            </a:extLst>
          </p:cNvPr>
          <p:cNvSpPr>
            <a:spLocks noGrp="1"/>
          </p:cNvSpPr>
          <p:nvPr>
            <p:ph type="title"/>
          </p:nvPr>
        </p:nvSpPr>
        <p:spPr/>
        <p:txBody>
          <a:bodyPr/>
          <a:lstStyle/>
          <a:p>
            <a:r>
              <a:rPr lang="en-US" dirty="0"/>
              <a:t>Visualization of Semantics</a:t>
            </a:r>
          </a:p>
        </p:txBody>
      </p:sp>
      <p:pic>
        <p:nvPicPr>
          <p:cNvPr id="4" name="Picture 3">
            <a:extLst>
              <a:ext uri="{FF2B5EF4-FFF2-40B4-BE49-F238E27FC236}">
                <a16:creationId xmlns:a16="http://schemas.microsoft.com/office/drawing/2014/main" id="{8EF79F2B-DACB-3D87-90A6-89018FA46696}"/>
              </a:ext>
            </a:extLst>
          </p:cNvPr>
          <p:cNvPicPr>
            <a:picLocks noChangeAspect="1"/>
          </p:cNvPicPr>
          <p:nvPr/>
        </p:nvPicPr>
        <p:blipFill>
          <a:blip r:embed="rId2"/>
          <a:stretch>
            <a:fillRect/>
          </a:stretch>
        </p:blipFill>
        <p:spPr>
          <a:xfrm>
            <a:off x="838200" y="1709072"/>
            <a:ext cx="6598260" cy="4584444"/>
          </a:xfrm>
          <a:prstGeom prst="rect">
            <a:avLst/>
          </a:prstGeom>
        </p:spPr>
      </p:pic>
      <p:sp>
        <p:nvSpPr>
          <p:cNvPr id="5" name="Content Placeholder 2">
            <a:extLst>
              <a:ext uri="{FF2B5EF4-FFF2-40B4-BE49-F238E27FC236}">
                <a16:creationId xmlns:a16="http://schemas.microsoft.com/office/drawing/2014/main" id="{CD70CB57-C433-9366-EB08-919FBE0412B1}"/>
              </a:ext>
            </a:extLst>
          </p:cNvPr>
          <p:cNvSpPr>
            <a:spLocks noGrp="1"/>
          </p:cNvSpPr>
          <p:nvPr>
            <p:ph idx="1"/>
          </p:nvPr>
        </p:nvSpPr>
        <p:spPr>
          <a:xfrm>
            <a:off x="7983070" y="1825625"/>
            <a:ext cx="3850342" cy="4234516"/>
          </a:xfrm>
        </p:spPr>
        <p:txBody>
          <a:bodyPr>
            <a:normAutofit/>
          </a:bodyPr>
          <a:lstStyle/>
          <a:p>
            <a:pPr marL="0" indent="0">
              <a:buNone/>
            </a:pPr>
            <a:r>
              <a:rPr lang="en-US" dirty="0"/>
              <a:t>A quick UMAP projection of the ad descriptions, shows no clear boundaries for easy classification.</a:t>
            </a:r>
          </a:p>
          <a:p>
            <a:pPr marL="0" indent="0">
              <a:buNone/>
            </a:pPr>
            <a:endParaRPr lang="en-US" dirty="0"/>
          </a:p>
          <a:p>
            <a:pPr marL="0" indent="0">
              <a:buNone/>
            </a:pPr>
            <a:r>
              <a:rPr lang="en-US" dirty="0"/>
              <a:t>Scammers might already have robust understandings of what to write to blend in.</a:t>
            </a:r>
          </a:p>
        </p:txBody>
      </p:sp>
    </p:spTree>
    <p:extLst>
      <p:ext uri="{BB962C8B-B14F-4D97-AF65-F5344CB8AC3E}">
        <p14:creationId xmlns:p14="http://schemas.microsoft.com/office/powerpoint/2010/main" val="3796542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0FCE7-3912-EBFD-855F-A6B5F70A4646}"/>
              </a:ext>
            </a:extLst>
          </p:cNvPr>
          <p:cNvSpPr>
            <a:spLocks noGrp="1"/>
          </p:cNvSpPr>
          <p:nvPr>
            <p:ph type="title"/>
          </p:nvPr>
        </p:nvSpPr>
        <p:spPr/>
        <p:txBody>
          <a:bodyPr/>
          <a:lstStyle/>
          <a:p>
            <a:r>
              <a:rPr lang="en-US" dirty="0"/>
              <a:t>Criteria for Models</a:t>
            </a:r>
          </a:p>
        </p:txBody>
      </p:sp>
      <p:sp>
        <p:nvSpPr>
          <p:cNvPr id="3" name="Content Placeholder 2">
            <a:extLst>
              <a:ext uri="{FF2B5EF4-FFF2-40B4-BE49-F238E27FC236}">
                <a16:creationId xmlns:a16="http://schemas.microsoft.com/office/drawing/2014/main" id="{C880485A-8A08-DFA9-4E22-32026BBD3968}"/>
              </a:ext>
            </a:extLst>
          </p:cNvPr>
          <p:cNvSpPr>
            <a:spLocks noGrp="1"/>
          </p:cNvSpPr>
          <p:nvPr>
            <p:ph idx="1"/>
          </p:nvPr>
        </p:nvSpPr>
        <p:spPr/>
        <p:txBody>
          <a:bodyPr>
            <a:normAutofit lnSpcReduction="10000"/>
          </a:bodyPr>
          <a:lstStyle/>
          <a:p>
            <a:pPr marL="0" indent="0">
              <a:buNone/>
            </a:pPr>
            <a:r>
              <a:rPr lang="en-US" dirty="0"/>
              <a:t>Our models should be robust and generalizable, and fulfill certain criteria.</a:t>
            </a:r>
          </a:p>
          <a:p>
            <a:pPr marL="514350" indent="-514350">
              <a:buFont typeface="Arial" panose="020B0604020202020204" pitchFamily="34" charset="0"/>
              <a:buAutoNum type="arabicPeriod"/>
            </a:pPr>
            <a:r>
              <a:rPr lang="en-US" dirty="0"/>
              <a:t>Maximizing Recall (and possibly F1 Score if no human review)</a:t>
            </a:r>
          </a:p>
          <a:p>
            <a:pPr marL="457200" lvl="1" indent="0">
              <a:buNone/>
            </a:pPr>
            <a:r>
              <a:rPr lang="en-US" dirty="0"/>
              <a:t>We want to </a:t>
            </a:r>
            <a:r>
              <a:rPr lang="en-US" dirty="0" err="1"/>
              <a:t>maximise</a:t>
            </a:r>
            <a:r>
              <a:rPr lang="en-US" dirty="0"/>
              <a:t> the proportion of scams that the model is able to catch, and punish less for false positives, if we intend to use human review.</a:t>
            </a:r>
          </a:p>
          <a:p>
            <a:pPr marL="514350" indent="-514350">
              <a:buAutoNum type="arabicPeriod"/>
            </a:pPr>
            <a:r>
              <a:rPr lang="en-US" dirty="0"/>
              <a:t>Maximizing Interpretability</a:t>
            </a:r>
          </a:p>
          <a:p>
            <a:pPr marL="457200" lvl="1" indent="0">
              <a:buNone/>
            </a:pPr>
            <a:r>
              <a:rPr lang="en-US" dirty="0"/>
              <a:t>In a real world model, that could produce false positives, we should be able to explain why the model flags it as scams, so human review is possible.</a:t>
            </a:r>
          </a:p>
          <a:p>
            <a:pPr marL="514350" indent="-514350">
              <a:buAutoNum type="arabicPeriod"/>
            </a:pPr>
            <a:r>
              <a:rPr lang="en-US" dirty="0"/>
              <a:t>Minimizing Cost</a:t>
            </a:r>
          </a:p>
          <a:p>
            <a:pPr marL="457200" lvl="1" indent="0">
              <a:buNone/>
            </a:pPr>
            <a:r>
              <a:rPr lang="en-US" dirty="0"/>
              <a:t>We should choose a model which is easier to train if they produce similar results.</a:t>
            </a:r>
          </a:p>
        </p:txBody>
      </p:sp>
    </p:spTree>
    <p:extLst>
      <p:ext uri="{BB962C8B-B14F-4D97-AF65-F5344CB8AC3E}">
        <p14:creationId xmlns:p14="http://schemas.microsoft.com/office/powerpoint/2010/main" val="2140656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DF0F1-35C6-048D-8654-538D603A7393}"/>
              </a:ext>
            </a:extLst>
          </p:cNvPr>
          <p:cNvSpPr>
            <a:spLocks noGrp="1"/>
          </p:cNvSpPr>
          <p:nvPr>
            <p:ph type="title"/>
          </p:nvPr>
        </p:nvSpPr>
        <p:spPr/>
        <p:txBody>
          <a:bodyPr/>
          <a:lstStyle/>
          <a:p>
            <a:r>
              <a:rPr lang="en-US" dirty="0"/>
              <a:t>Proposal</a:t>
            </a:r>
          </a:p>
        </p:txBody>
      </p:sp>
      <p:sp>
        <p:nvSpPr>
          <p:cNvPr id="3" name="Content Placeholder 2">
            <a:extLst>
              <a:ext uri="{FF2B5EF4-FFF2-40B4-BE49-F238E27FC236}">
                <a16:creationId xmlns:a16="http://schemas.microsoft.com/office/drawing/2014/main" id="{425A2C8C-F139-4F5A-857C-1EC0EF33E106}"/>
              </a:ext>
            </a:extLst>
          </p:cNvPr>
          <p:cNvSpPr>
            <a:spLocks noGrp="1"/>
          </p:cNvSpPr>
          <p:nvPr>
            <p:ph idx="1"/>
          </p:nvPr>
        </p:nvSpPr>
        <p:spPr/>
        <p:txBody>
          <a:bodyPr/>
          <a:lstStyle/>
          <a:p>
            <a:r>
              <a:rPr lang="en-US" dirty="0"/>
              <a:t>We will do a comparative analysis of multiple types of models, and pick the best based on Recall, as well as interpretability.</a:t>
            </a:r>
          </a:p>
          <a:p>
            <a:pPr lvl="1"/>
            <a:r>
              <a:rPr lang="en-US" dirty="0"/>
              <a:t>We will only pick a less interpretable model if there is a statistically significant benefit to picking it.</a:t>
            </a:r>
          </a:p>
          <a:p>
            <a:pPr lvl="1"/>
            <a:r>
              <a:rPr lang="en-US" dirty="0"/>
              <a:t>Models will include </a:t>
            </a:r>
            <a:r>
              <a:rPr lang="en-US" b="1" dirty="0"/>
              <a:t>Decision Trees, Linear SVM</a:t>
            </a:r>
            <a:r>
              <a:rPr lang="en-US" dirty="0"/>
              <a:t>, </a:t>
            </a:r>
            <a:r>
              <a:rPr lang="en-US" b="1" dirty="0" err="1"/>
              <a:t>XGBoost</a:t>
            </a:r>
            <a:r>
              <a:rPr lang="en-US" b="1" dirty="0"/>
              <a:t>, and </a:t>
            </a:r>
            <a:r>
              <a:rPr lang="en-US" b="1" dirty="0" err="1"/>
              <a:t>Tabnet</a:t>
            </a:r>
            <a:endParaRPr lang="en-US" dirty="0"/>
          </a:p>
          <a:p>
            <a:endParaRPr lang="en-US" dirty="0"/>
          </a:p>
          <a:p>
            <a:r>
              <a:rPr lang="en-US" dirty="0"/>
              <a:t>We will train all 4 models and pick the hyperparameters using Grid Search, testing using stratified K-fold-cross validation.</a:t>
            </a:r>
          </a:p>
          <a:p>
            <a:pPr lvl="1"/>
            <a:r>
              <a:rPr lang="en-US" dirty="0"/>
              <a:t>We also need to ensure class imbalances, and normalization / standardization is handled if required.</a:t>
            </a:r>
          </a:p>
        </p:txBody>
      </p:sp>
    </p:spTree>
    <p:extLst>
      <p:ext uri="{BB962C8B-B14F-4D97-AF65-F5344CB8AC3E}">
        <p14:creationId xmlns:p14="http://schemas.microsoft.com/office/powerpoint/2010/main" val="2700606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F6E8-C114-8032-963A-65494F9A0BA5}"/>
              </a:ext>
            </a:extLst>
          </p:cNvPr>
          <p:cNvSpPr>
            <a:spLocks noGrp="1"/>
          </p:cNvSpPr>
          <p:nvPr>
            <p:ph type="title"/>
          </p:nvPr>
        </p:nvSpPr>
        <p:spPr/>
        <p:txBody>
          <a:bodyPr/>
          <a:lstStyle/>
          <a:p>
            <a:r>
              <a:rPr lang="en-US" dirty="0"/>
              <a:t>Example Pipelines</a:t>
            </a:r>
          </a:p>
        </p:txBody>
      </p:sp>
      <p:sp>
        <p:nvSpPr>
          <p:cNvPr id="5" name="Rectangle 4">
            <a:extLst>
              <a:ext uri="{FF2B5EF4-FFF2-40B4-BE49-F238E27FC236}">
                <a16:creationId xmlns:a16="http://schemas.microsoft.com/office/drawing/2014/main" id="{2F1B0336-FD7B-8205-E213-C1869E4F99C2}"/>
              </a:ext>
            </a:extLst>
          </p:cNvPr>
          <p:cNvSpPr/>
          <p:nvPr/>
        </p:nvSpPr>
        <p:spPr>
          <a:xfrm>
            <a:off x="871819" y="2296271"/>
            <a:ext cx="2223252"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Standardization of Data</a:t>
            </a:r>
          </a:p>
        </p:txBody>
      </p:sp>
      <p:sp>
        <p:nvSpPr>
          <p:cNvPr id="6" name="Rectangle 5">
            <a:extLst>
              <a:ext uri="{FF2B5EF4-FFF2-40B4-BE49-F238E27FC236}">
                <a16:creationId xmlns:a16="http://schemas.microsoft.com/office/drawing/2014/main" id="{7E84BD95-7871-9E5D-8716-0EA0CC3F6E9B}"/>
              </a:ext>
            </a:extLst>
          </p:cNvPr>
          <p:cNvSpPr/>
          <p:nvPr/>
        </p:nvSpPr>
        <p:spPr>
          <a:xfrm>
            <a:off x="3606058" y="2296271"/>
            <a:ext cx="2465291"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Balance Classes using </a:t>
            </a:r>
          </a:p>
          <a:p>
            <a:pPr algn="ctr"/>
            <a:r>
              <a:rPr lang="en-US" dirty="0" err="1"/>
              <a:t>class_weight</a:t>
            </a:r>
            <a:r>
              <a:rPr lang="en-US" dirty="0"/>
              <a:t> = ”balanced”</a:t>
            </a:r>
          </a:p>
        </p:txBody>
      </p:sp>
      <p:sp>
        <p:nvSpPr>
          <p:cNvPr id="7" name="Rectangle 6">
            <a:extLst>
              <a:ext uri="{FF2B5EF4-FFF2-40B4-BE49-F238E27FC236}">
                <a16:creationId xmlns:a16="http://schemas.microsoft.com/office/drawing/2014/main" id="{3D104958-777A-AF66-561F-083FA50C88A5}"/>
              </a:ext>
            </a:extLst>
          </p:cNvPr>
          <p:cNvSpPr/>
          <p:nvPr/>
        </p:nvSpPr>
        <p:spPr>
          <a:xfrm>
            <a:off x="6615956" y="2296271"/>
            <a:ext cx="2079809"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Perform Grid Search to tune hyperparameters</a:t>
            </a:r>
          </a:p>
        </p:txBody>
      </p:sp>
      <p:sp>
        <p:nvSpPr>
          <p:cNvPr id="8" name="Rectangle 7">
            <a:extLst>
              <a:ext uri="{FF2B5EF4-FFF2-40B4-BE49-F238E27FC236}">
                <a16:creationId xmlns:a16="http://schemas.microsoft.com/office/drawing/2014/main" id="{43CB620C-F889-D570-FBBE-38E4FAD2B6F6}"/>
              </a:ext>
            </a:extLst>
          </p:cNvPr>
          <p:cNvSpPr/>
          <p:nvPr/>
        </p:nvSpPr>
        <p:spPr>
          <a:xfrm>
            <a:off x="9240372" y="2296271"/>
            <a:ext cx="2079809"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 for recall using Stratified K fold CV</a:t>
            </a:r>
          </a:p>
        </p:txBody>
      </p:sp>
      <p:sp>
        <p:nvSpPr>
          <p:cNvPr id="9" name="Title 1">
            <a:extLst>
              <a:ext uri="{FF2B5EF4-FFF2-40B4-BE49-F238E27FC236}">
                <a16:creationId xmlns:a16="http://schemas.microsoft.com/office/drawing/2014/main" id="{954FAC91-9263-D43F-EF20-BE1FC06265A7}"/>
              </a:ext>
            </a:extLst>
          </p:cNvPr>
          <p:cNvSpPr txBox="1">
            <a:spLocks/>
          </p:cNvSpPr>
          <p:nvPr/>
        </p:nvSpPr>
        <p:spPr>
          <a:xfrm>
            <a:off x="777689" y="1276911"/>
            <a:ext cx="479835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SVM (Linear)</a:t>
            </a:r>
          </a:p>
        </p:txBody>
      </p:sp>
      <p:cxnSp>
        <p:nvCxnSpPr>
          <p:cNvPr id="15" name="Straight Arrow Connector 14">
            <a:extLst>
              <a:ext uri="{FF2B5EF4-FFF2-40B4-BE49-F238E27FC236}">
                <a16:creationId xmlns:a16="http://schemas.microsoft.com/office/drawing/2014/main" id="{956B414D-767A-5EF9-4AC9-5BF7C08EF026}"/>
              </a:ext>
            </a:extLst>
          </p:cNvPr>
          <p:cNvCxnSpPr>
            <a:stCxn id="5" idx="3"/>
            <a:endCxn id="6" idx="1"/>
          </p:cNvCxnSpPr>
          <p:nvPr/>
        </p:nvCxnSpPr>
        <p:spPr>
          <a:xfrm>
            <a:off x="3095071" y="2862635"/>
            <a:ext cx="5109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5A1D448-646E-40E4-2C55-DF9E4131F488}"/>
              </a:ext>
            </a:extLst>
          </p:cNvPr>
          <p:cNvCxnSpPr>
            <a:cxnSpLocks/>
            <a:stCxn id="6" idx="3"/>
            <a:endCxn id="7" idx="1"/>
          </p:cNvCxnSpPr>
          <p:nvPr/>
        </p:nvCxnSpPr>
        <p:spPr>
          <a:xfrm>
            <a:off x="6071349" y="2862635"/>
            <a:ext cx="5446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376C294-000D-CA4F-E16B-FE4E531E874C}"/>
              </a:ext>
            </a:extLst>
          </p:cNvPr>
          <p:cNvCxnSpPr>
            <a:cxnSpLocks/>
            <a:stCxn id="7" idx="3"/>
            <a:endCxn id="8" idx="1"/>
          </p:cNvCxnSpPr>
          <p:nvPr/>
        </p:nvCxnSpPr>
        <p:spPr>
          <a:xfrm>
            <a:off x="8695765" y="2862635"/>
            <a:ext cx="5446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2C29B270-CDED-6CAB-C13D-E8505C51BF9B}"/>
              </a:ext>
            </a:extLst>
          </p:cNvPr>
          <p:cNvSpPr/>
          <p:nvPr/>
        </p:nvSpPr>
        <p:spPr>
          <a:xfrm>
            <a:off x="871819" y="4887909"/>
            <a:ext cx="2223252"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 Standardization required</a:t>
            </a:r>
          </a:p>
        </p:txBody>
      </p:sp>
      <p:sp>
        <p:nvSpPr>
          <p:cNvPr id="25" name="Rectangle 24">
            <a:extLst>
              <a:ext uri="{FF2B5EF4-FFF2-40B4-BE49-F238E27FC236}">
                <a16:creationId xmlns:a16="http://schemas.microsoft.com/office/drawing/2014/main" id="{CF075BA8-54D7-603B-89C1-7F388ECE0DAB}"/>
              </a:ext>
            </a:extLst>
          </p:cNvPr>
          <p:cNvSpPr/>
          <p:nvPr/>
        </p:nvSpPr>
        <p:spPr>
          <a:xfrm>
            <a:off x="3606058" y="4887909"/>
            <a:ext cx="2465291"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Balance Classes using SMOTE</a:t>
            </a:r>
          </a:p>
        </p:txBody>
      </p:sp>
      <p:sp>
        <p:nvSpPr>
          <p:cNvPr id="26" name="Rectangle 25">
            <a:extLst>
              <a:ext uri="{FF2B5EF4-FFF2-40B4-BE49-F238E27FC236}">
                <a16:creationId xmlns:a16="http://schemas.microsoft.com/office/drawing/2014/main" id="{D7271FD8-A9F2-CD32-3516-CFF58949818C}"/>
              </a:ext>
            </a:extLst>
          </p:cNvPr>
          <p:cNvSpPr/>
          <p:nvPr/>
        </p:nvSpPr>
        <p:spPr>
          <a:xfrm>
            <a:off x="6615956" y="4887909"/>
            <a:ext cx="2079809"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Perform Grid Search to tune hyperparameters</a:t>
            </a:r>
          </a:p>
        </p:txBody>
      </p:sp>
      <p:sp>
        <p:nvSpPr>
          <p:cNvPr id="27" name="Rectangle 26">
            <a:extLst>
              <a:ext uri="{FF2B5EF4-FFF2-40B4-BE49-F238E27FC236}">
                <a16:creationId xmlns:a16="http://schemas.microsoft.com/office/drawing/2014/main" id="{676D2588-3369-49FA-5ADA-7699130AFD17}"/>
              </a:ext>
            </a:extLst>
          </p:cNvPr>
          <p:cNvSpPr/>
          <p:nvPr/>
        </p:nvSpPr>
        <p:spPr>
          <a:xfrm>
            <a:off x="9240372" y="4887909"/>
            <a:ext cx="2079809" cy="1132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 for recall using Stratified K fold CV</a:t>
            </a:r>
          </a:p>
        </p:txBody>
      </p:sp>
      <p:sp>
        <p:nvSpPr>
          <p:cNvPr id="28" name="Title 1">
            <a:extLst>
              <a:ext uri="{FF2B5EF4-FFF2-40B4-BE49-F238E27FC236}">
                <a16:creationId xmlns:a16="http://schemas.microsoft.com/office/drawing/2014/main" id="{2C05E8DC-8D34-D91D-D595-1F7828A9D789}"/>
              </a:ext>
            </a:extLst>
          </p:cNvPr>
          <p:cNvSpPr txBox="1">
            <a:spLocks/>
          </p:cNvSpPr>
          <p:nvPr/>
        </p:nvSpPr>
        <p:spPr>
          <a:xfrm>
            <a:off x="777689" y="3868549"/>
            <a:ext cx="479835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XGBoost</a:t>
            </a:r>
            <a:endParaRPr lang="en-US" dirty="0"/>
          </a:p>
        </p:txBody>
      </p:sp>
      <p:cxnSp>
        <p:nvCxnSpPr>
          <p:cNvPr id="29" name="Straight Arrow Connector 28">
            <a:extLst>
              <a:ext uri="{FF2B5EF4-FFF2-40B4-BE49-F238E27FC236}">
                <a16:creationId xmlns:a16="http://schemas.microsoft.com/office/drawing/2014/main" id="{826055BE-5511-0603-B870-2A4B241C9208}"/>
              </a:ext>
            </a:extLst>
          </p:cNvPr>
          <p:cNvCxnSpPr>
            <a:stCxn id="24" idx="3"/>
            <a:endCxn id="25" idx="1"/>
          </p:cNvCxnSpPr>
          <p:nvPr/>
        </p:nvCxnSpPr>
        <p:spPr>
          <a:xfrm>
            <a:off x="3095071" y="5454273"/>
            <a:ext cx="5109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63A17AF-2842-6F44-AA7A-DAC8E8C2B86B}"/>
              </a:ext>
            </a:extLst>
          </p:cNvPr>
          <p:cNvCxnSpPr>
            <a:cxnSpLocks/>
            <a:stCxn id="25" idx="3"/>
            <a:endCxn id="26" idx="1"/>
          </p:cNvCxnSpPr>
          <p:nvPr/>
        </p:nvCxnSpPr>
        <p:spPr>
          <a:xfrm>
            <a:off x="6071349" y="5454273"/>
            <a:ext cx="5446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BDC3F615-1BC3-3F56-48A8-2288B0F52AB3}"/>
              </a:ext>
            </a:extLst>
          </p:cNvPr>
          <p:cNvCxnSpPr>
            <a:cxnSpLocks/>
            <a:stCxn id="26" idx="3"/>
            <a:endCxn id="27" idx="1"/>
          </p:cNvCxnSpPr>
          <p:nvPr/>
        </p:nvCxnSpPr>
        <p:spPr>
          <a:xfrm>
            <a:off x="8695765" y="5454273"/>
            <a:ext cx="5446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4292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A0E60-8067-0A7D-A553-EE8F435F2EDA}"/>
              </a:ext>
            </a:extLst>
          </p:cNvPr>
          <p:cNvSpPr>
            <a:spLocks noGrp="1"/>
          </p:cNvSpPr>
          <p:nvPr>
            <p:ph type="title"/>
          </p:nvPr>
        </p:nvSpPr>
        <p:spPr/>
        <p:txBody>
          <a:bodyPr/>
          <a:lstStyle/>
          <a:p>
            <a:r>
              <a:rPr lang="en-US" dirty="0"/>
              <a:t>Model Tradeoffs</a:t>
            </a:r>
          </a:p>
        </p:txBody>
      </p:sp>
      <p:sp>
        <p:nvSpPr>
          <p:cNvPr id="3" name="Content Placeholder 2">
            <a:extLst>
              <a:ext uri="{FF2B5EF4-FFF2-40B4-BE49-F238E27FC236}">
                <a16:creationId xmlns:a16="http://schemas.microsoft.com/office/drawing/2014/main" id="{C42B81CB-3B41-F83A-B13B-CBB6A4CD533B}"/>
              </a:ext>
            </a:extLst>
          </p:cNvPr>
          <p:cNvSpPr>
            <a:spLocks noGrp="1"/>
          </p:cNvSpPr>
          <p:nvPr>
            <p:ph idx="1"/>
          </p:nvPr>
        </p:nvSpPr>
        <p:spPr/>
        <p:txBody>
          <a:bodyPr/>
          <a:lstStyle/>
          <a:p>
            <a:r>
              <a:rPr lang="en-US" dirty="0"/>
              <a:t>Each model has their own strengths and weakness</a:t>
            </a:r>
          </a:p>
          <a:p>
            <a:pPr lvl="1"/>
            <a:r>
              <a:rPr lang="en-US" dirty="0"/>
              <a:t>Decision trees – easily interpretable, but decision boundaries are easily reverse engineered and boundaries are easily overfitted.</a:t>
            </a:r>
          </a:p>
          <a:p>
            <a:pPr lvl="1"/>
            <a:r>
              <a:rPr lang="en-US" dirty="0"/>
              <a:t>Linear SVM – easily interpretable, but struggles with non-linear relationships.</a:t>
            </a:r>
          </a:p>
          <a:p>
            <a:pPr lvl="1"/>
            <a:r>
              <a:rPr lang="en-US" dirty="0" err="1"/>
              <a:t>XGBoost</a:t>
            </a:r>
            <a:r>
              <a:rPr lang="en-US" dirty="0"/>
              <a:t> – usually very high accuracy, but it does not handle class imbalances well, so we have to run SMOTE or some </a:t>
            </a:r>
            <a:r>
              <a:rPr lang="en-US" dirty="0" err="1"/>
              <a:t>undersampling</a:t>
            </a:r>
            <a:r>
              <a:rPr lang="en-US" dirty="0"/>
              <a:t> technique, which might not work well to create new samples of text.</a:t>
            </a:r>
          </a:p>
          <a:p>
            <a:pPr lvl="1"/>
            <a:r>
              <a:rPr lang="en-US" dirty="0" err="1"/>
              <a:t>Tabnet</a:t>
            </a:r>
            <a:r>
              <a:rPr lang="en-US" dirty="0"/>
              <a:t> – Able to locate nonlinear trends, but highly uninterpretable, and expensive to train.</a:t>
            </a:r>
          </a:p>
        </p:txBody>
      </p:sp>
    </p:spTree>
    <p:extLst>
      <p:ext uri="{BB962C8B-B14F-4D97-AF65-F5344CB8AC3E}">
        <p14:creationId xmlns:p14="http://schemas.microsoft.com/office/powerpoint/2010/main" val="3502642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CEF53-F102-AA56-9CCA-47DD6A8F3959}"/>
              </a:ext>
            </a:extLst>
          </p:cNvPr>
          <p:cNvSpPr>
            <a:spLocks noGrp="1"/>
          </p:cNvSpPr>
          <p:nvPr>
            <p:ph type="title"/>
          </p:nvPr>
        </p:nvSpPr>
        <p:spPr/>
        <p:txBody>
          <a:bodyPr/>
          <a:lstStyle/>
          <a:p>
            <a:r>
              <a:rPr lang="en-US" dirty="0"/>
              <a:t>Structural Limitations</a:t>
            </a:r>
          </a:p>
        </p:txBody>
      </p:sp>
      <p:sp>
        <p:nvSpPr>
          <p:cNvPr id="3" name="Content Placeholder 2">
            <a:extLst>
              <a:ext uri="{FF2B5EF4-FFF2-40B4-BE49-F238E27FC236}">
                <a16:creationId xmlns:a16="http://schemas.microsoft.com/office/drawing/2014/main" id="{8EDB226D-0C4A-ECFF-CBBD-3DA3E0C08D3F}"/>
              </a:ext>
            </a:extLst>
          </p:cNvPr>
          <p:cNvSpPr>
            <a:spLocks noGrp="1"/>
          </p:cNvSpPr>
          <p:nvPr>
            <p:ph idx="1"/>
          </p:nvPr>
        </p:nvSpPr>
        <p:spPr>
          <a:xfrm>
            <a:off x="838200" y="1825625"/>
            <a:ext cx="7333527" cy="4351338"/>
          </a:xfrm>
        </p:spPr>
        <p:txBody>
          <a:bodyPr>
            <a:normAutofit/>
          </a:bodyPr>
          <a:lstStyle/>
          <a:p>
            <a:r>
              <a:rPr lang="en-US" dirty="0"/>
              <a:t>All our models have to be retrained if we want to update our model, because they cannot be updated.</a:t>
            </a:r>
          </a:p>
          <a:p>
            <a:pPr lvl="1"/>
            <a:r>
              <a:rPr lang="en-US" dirty="0"/>
              <a:t>Scammers can move quickly and change tactics quickly - old techniques are changed if they don’t work (even old social engineering techniques have improved)</a:t>
            </a:r>
          </a:p>
          <a:p>
            <a:pPr lvl="1"/>
            <a:r>
              <a:rPr lang="en-US" dirty="0"/>
              <a:t>Simple and interpretable models like decision trees can be quickly reverse engineered by scammers</a:t>
            </a:r>
          </a:p>
        </p:txBody>
      </p:sp>
      <p:pic>
        <p:nvPicPr>
          <p:cNvPr id="7" name="Picture 6" descr="A blue and white poster with text&#10;&#10;AI-generated content may be incorrect.">
            <a:extLst>
              <a:ext uri="{FF2B5EF4-FFF2-40B4-BE49-F238E27FC236}">
                <a16:creationId xmlns:a16="http://schemas.microsoft.com/office/drawing/2014/main" id="{5D5068FC-4841-A798-727D-8ED3173B7034}"/>
              </a:ext>
            </a:extLst>
          </p:cNvPr>
          <p:cNvPicPr>
            <a:picLocks noChangeAspect="1"/>
          </p:cNvPicPr>
          <p:nvPr/>
        </p:nvPicPr>
        <p:blipFill>
          <a:blip r:embed="rId2"/>
          <a:stretch>
            <a:fillRect/>
          </a:stretch>
        </p:blipFill>
        <p:spPr>
          <a:xfrm>
            <a:off x="8402738" y="1666272"/>
            <a:ext cx="3415014" cy="3415014"/>
          </a:xfrm>
          <a:prstGeom prst="rect">
            <a:avLst/>
          </a:prstGeom>
        </p:spPr>
      </p:pic>
    </p:spTree>
    <p:extLst>
      <p:ext uri="{BB962C8B-B14F-4D97-AF65-F5344CB8AC3E}">
        <p14:creationId xmlns:p14="http://schemas.microsoft.com/office/powerpoint/2010/main" val="2373066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CD7BF-C167-2CE5-DBED-38A621B39E8C}"/>
              </a:ext>
            </a:extLst>
          </p:cNvPr>
          <p:cNvSpPr>
            <a:spLocks noGrp="1"/>
          </p:cNvSpPr>
          <p:nvPr>
            <p:ph type="title"/>
          </p:nvPr>
        </p:nvSpPr>
        <p:spPr/>
        <p:txBody>
          <a:bodyPr/>
          <a:lstStyle/>
          <a:p>
            <a:r>
              <a:rPr lang="en-US" dirty="0"/>
              <a:t>Structural Limitations</a:t>
            </a:r>
          </a:p>
        </p:txBody>
      </p:sp>
      <p:sp>
        <p:nvSpPr>
          <p:cNvPr id="3" name="Content Placeholder 2">
            <a:extLst>
              <a:ext uri="{FF2B5EF4-FFF2-40B4-BE49-F238E27FC236}">
                <a16:creationId xmlns:a16="http://schemas.microsoft.com/office/drawing/2014/main" id="{B5E7245A-55CB-3FC6-6C0A-A0AC2B70E1C9}"/>
              </a:ext>
            </a:extLst>
          </p:cNvPr>
          <p:cNvSpPr>
            <a:spLocks noGrp="1"/>
          </p:cNvSpPr>
          <p:nvPr>
            <p:ph idx="1"/>
          </p:nvPr>
        </p:nvSpPr>
        <p:spPr>
          <a:xfrm>
            <a:off x="838200" y="1825625"/>
            <a:ext cx="7090458" cy="4351338"/>
          </a:xfrm>
        </p:spPr>
        <p:txBody>
          <a:bodyPr/>
          <a:lstStyle/>
          <a:p>
            <a:r>
              <a:rPr lang="en-US" dirty="0"/>
              <a:t>We are only able to flag fraudulent ads, but this still requires human verification</a:t>
            </a:r>
          </a:p>
          <a:p>
            <a:pPr lvl="1"/>
            <a:r>
              <a:rPr lang="en-US" dirty="0"/>
              <a:t>We cannot leave our model as an open box online, this allows scammers to reverse engineer our models – so we cannot directly flag it on site (like the image)</a:t>
            </a:r>
          </a:p>
          <a:p>
            <a:pPr lvl="1"/>
            <a:r>
              <a:rPr lang="en-US" dirty="0"/>
              <a:t>Hence we need to use some sort of review process, before we allow job ads onto platforms.</a:t>
            </a:r>
          </a:p>
          <a:p>
            <a:pPr marL="0" indent="0">
              <a:buNone/>
            </a:pPr>
            <a:endParaRPr lang="en-US" dirty="0"/>
          </a:p>
        </p:txBody>
      </p:sp>
      <p:pic>
        <p:nvPicPr>
          <p:cNvPr id="4" name="Picture 3" descr="A screenshot of a scam&#10;&#10;AI-generated content may be incorrect.">
            <a:extLst>
              <a:ext uri="{FF2B5EF4-FFF2-40B4-BE49-F238E27FC236}">
                <a16:creationId xmlns:a16="http://schemas.microsoft.com/office/drawing/2014/main" id="{A658FDF8-2B01-5AF8-4980-4CA8F9751A7E}"/>
              </a:ext>
            </a:extLst>
          </p:cNvPr>
          <p:cNvPicPr>
            <a:picLocks noChangeAspect="1"/>
          </p:cNvPicPr>
          <p:nvPr/>
        </p:nvPicPr>
        <p:blipFill>
          <a:blip r:embed="rId2"/>
          <a:stretch>
            <a:fillRect/>
          </a:stretch>
        </p:blipFill>
        <p:spPr>
          <a:xfrm>
            <a:off x="8449821" y="1764617"/>
            <a:ext cx="2399508" cy="4265793"/>
          </a:xfrm>
          <a:prstGeom prst="rect">
            <a:avLst/>
          </a:prstGeom>
        </p:spPr>
      </p:pic>
    </p:spTree>
    <p:extLst>
      <p:ext uri="{BB962C8B-B14F-4D97-AF65-F5344CB8AC3E}">
        <p14:creationId xmlns:p14="http://schemas.microsoft.com/office/powerpoint/2010/main" val="300549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1038</Words>
  <Application>Microsoft Macintosh PowerPoint</Application>
  <PresentationFormat>Widescreen</PresentationFormat>
  <Paragraphs>81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Scam Dataset - GASP</vt:lpstr>
      <vt:lpstr>Scam Dataset</vt:lpstr>
      <vt:lpstr>Features</vt:lpstr>
      <vt:lpstr>Dataset Preprocessing and Limitations</vt:lpstr>
      <vt:lpstr>Dataset Preprocessing and Limitations</vt:lpstr>
      <vt:lpstr>Most suspicious features</vt:lpstr>
      <vt:lpstr>Type of Employment</vt:lpstr>
      <vt:lpstr>Descriptions</vt:lpstr>
      <vt:lpstr>Visualization of Semantics</vt:lpstr>
      <vt:lpstr>Criteria for Models</vt:lpstr>
      <vt:lpstr>Proposal</vt:lpstr>
      <vt:lpstr>Example Pipelines</vt:lpstr>
      <vt:lpstr>Model Tradeoffs</vt:lpstr>
      <vt:lpstr>Structural Limitations</vt:lpstr>
      <vt:lpstr>Structural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Ng Yu Shiun</dc:creator>
  <cp:lastModifiedBy>Shawn Ng Yu Shiun</cp:lastModifiedBy>
  <cp:revision>9</cp:revision>
  <dcterms:created xsi:type="dcterms:W3CDTF">2026-03-15T11:17:47Z</dcterms:created>
  <dcterms:modified xsi:type="dcterms:W3CDTF">2026-03-15T13:49:32Z</dcterms:modified>
</cp:coreProperties>
</file>